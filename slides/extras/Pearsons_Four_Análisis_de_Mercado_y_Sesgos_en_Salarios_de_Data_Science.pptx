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736453" y="897999"/>
            <a:ext cx="3557281" cy="1955602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640" y="334080"/>
            <a:ext cx="3271531" cy="1785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2328753"/>
            <a:ext cx="7143750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Análisis de Mercado y Sesgos en Salarios de Data Science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714500" y="3181410"/>
            <a:ext cx="57150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empírica para la toma de decisiones estratégicas en DataTalent Solutions S.L.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767009" y="3697364"/>
            <a:ext cx="3721950" cy="48398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2767009" y="3697364"/>
            <a:ext cx="372195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Text 5"/>
          <p:cNvSpPr/>
          <p:nvPr/>
        </p:nvSpPr>
        <p:spPr>
          <a:xfrm>
            <a:off x="2767009" y="3915249"/>
            <a:ext cx="64296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Juan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2767009" y="4061695"/>
            <a:ext cx="6429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Wrangler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95724" y="3915249"/>
            <a:ext cx="8616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Isabela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695724" y="4061695"/>
            <a:ext cx="86160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Estadístico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4843077" y="3915249"/>
            <a:ext cx="5819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Anas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843077" y="4061695"/>
            <a:ext cx="58190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Visualización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5710736" y="3915249"/>
            <a:ext cx="77822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Vanessa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710736" y="4061695"/>
            <a:ext cx="77822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Estrategia y Ética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289236" y="4725591"/>
            <a:ext cx="5655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Objetivos del Análisis Estratégico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439466"/>
            <a:ext cx="428625" cy="428625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8" y="1568053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1575" y="1439466"/>
            <a:ext cx="31861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Evidencia de Mercado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171575" y="1707356"/>
            <a:ext cx="31861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Proporcionar datos empíricos sobre las habilidades técnicas más demandadas en el ecosistema actual de ciencia de datos.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786313" y="1439466"/>
            <a:ext cx="428625" cy="428625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184" y="1568053"/>
            <a:ext cx="192881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86388" y="1439466"/>
            <a:ext cx="31861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Salarial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5386388" y="1707356"/>
            <a:ext cx="31861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Evaluar la distribución global de compensaciones y su correlación directa con la experiencia y especialización profesional.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71500" y="2896009"/>
            <a:ext cx="428625" cy="428625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024597"/>
            <a:ext cx="214313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1575" y="2896009"/>
            <a:ext cx="31861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Detección de Sesgos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171575" y="3163900"/>
            <a:ext cx="31861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y cuantificar distorsiones demográficas o geográficas que puedan afectar la calidad de las decisiones estratégicas.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786313" y="2896009"/>
            <a:ext cx="428625" cy="428625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331" y="3024597"/>
            <a:ext cx="128588" cy="1714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86388" y="2896009"/>
            <a:ext cx="31861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Decisiones Basadas en Datos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386388" y="3163900"/>
            <a:ext cx="31861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 hallazgos estadísticos en recomendaciones accionables para el posicionamiento competitivo de DataTalent Solutions S.L.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Metodología y Preparación de Datos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857250" y="1153716"/>
            <a:ext cx="3814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452972" y="1153716"/>
            <a:ext cx="683377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Integración de Fuentes Críticas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452972" y="1407319"/>
            <a:ext cx="683377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Fusión de 123,849 registros de LinkedIn Job Postings con 49,191 encuestas de Stack Overflow para contrastar oferta de mercado vs. percepción comunitaria.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7250" y="2122874"/>
            <a:ext cx="3825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454116" y="2122874"/>
            <a:ext cx="683263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Limpieza y Normalización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54116" y="2376477"/>
            <a:ext cx="6832634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Estandarización de títulos de roles, ubicaciones geográficas y mapeo de niveles de experiencia a una escala numérica unificada (0-5).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7250" y="3167472"/>
            <a:ext cx="38140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2E8F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452972" y="3167472"/>
            <a:ext cx="6833778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Tratamiento de Outliers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52972" y="3421075"/>
            <a:ext cx="6833778" cy="41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del método del Rango Intercuartílico (IQR) para eliminar distorsiones salariales extremas, asegurando una muestra final estadísticamente robusta.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57250" y="4142249"/>
            <a:ext cx="7429500" cy="539353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4288696"/>
            <a:ext cx="5349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173,040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" y="4483363"/>
            <a:ext cx="15120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Iniciales Analizados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524241" y="4277980"/>
            <a:ext cx="209549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19,588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4241" y="4472648"/>
            <a:ext cx="179140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Limpios en Muestra Final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052438" y="4270837"/>
            <a:ext cx="209549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70.87%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52438" y="4465504"/>
            <a:ext cx="188070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Nulos en Salarios Detectada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Distribución Salarial en Roles de Datos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18022"/>
            <a:ext cx="4643438" cy="2857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8" y="1237655"/>
            <a:ext cx="157163" cy="15716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743575" y="1225153"/>
            <a:ext cx="112662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Sesgo Positivo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5500688" y="1493044"/>
            <a:ext cx="30718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distribución muestra una concentración masiva de ofertas entre $80K y $160K anuales, reflejando un mercado robusto para perfiles intermedios.</a:t>
            </a:r>
            <a:endParaRPr lang="en-US" sz="9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88" y="2408448"/>
            <a:ext cx="196453" cy="15716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782866" y="2395947"/>
            <a:ext cx="142361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Curva de Densidad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5500688" y="2663837"/>
            <a:ext cx="30718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curva KDE confirma una mayor frecuencia en el rango medio-bajo, con una "cola larga" hacia salarios ejecutivos altamente especializados.</a:t>
            </a:r>
            <a:endParaRPr lang="en-US" sz="950" dirty="0"/>
          </a:p>
        </p:txBody>
      </p:sp>
      <p:sp>
        <p:nvSpPr>
          <p:cNvPr id="11" name="Shape 5"/>
          <p:cNvSpPr/>
          <p:nvPr/>
        </p:nvSpPr>
        <p:spPr>
          <a:xfrm>
            <a:off x="5500688" y="3638178"/>
            <a:ext cx="3071813" cy="52149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6"/>
          <p:cNvSpPr/>
          <p:nvPr/>
        </p:nvSpPr>
        <p:spPr>
          <a:xfrm>
            <a:off x="5672138" y="3781053"/>
            <a:ext cx="2728913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$135,588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672138" y="4043586"/>
            <a:ext cx="2728913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SALARIAL (LINKEDIN)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Impacto de la Experiencia en la Remuneración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1500" y="1189434"/>
            <a:ext cx="32146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Progresión Salarial Clara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1425178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confirma una tendencia ascendente robusta. Los niveles "Executive" y "Director" lideran el mercado con medianas que superan los $200,000 anuales.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71500" y="2225278"/>
            <a:ext cx="32146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Variabilidad en Roles Senior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461022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mayor jerarquía, mayor es la dispersión salarial. Esto refleja una negociación más personalizada y la influencia de bonos o compensaciones variables.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1500" y="3261122"/>
            <a:ext cx="32146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Estabilidad en Niveles Iniciales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3496866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roles de "Internship" y "Entry Level" muestran rangos mucho más compactos, con una base sólida en torno a los $54,000 para pasantías.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43945" y="1010841"/>
            <a:ext cx="4657725" cy="359509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45" y="1153716"/>
            <a:ext cx="4643437" cy="32146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7578" y="4475559"/>
            <a:ext cx="329232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Figura: Dispersión salarial por categoría profesional (LinkedIn Data Roles)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Dinámicas de Atracción de Talento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9510"/>
            <a:ext cx="428625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80322" y="4134166"/>
            <a:ext cx="28685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Relación entre Visualizaciones y Aplicaciones (LinkedIn Dataset)</a:t>
            </a:r>
            <a:endParaRPr lang="en-US" sz="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1166217"/>
            <a:ext cx="157163" cy="15716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29263" y="1153716"/>
            <a:ext cx="173799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de Conversión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5286375" y="1407319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Tendencia positiva: el volumen de clics impulsa directamente la captación de candidatos.</a:t>
            </a:r>
            <a:endParaRPr lang="en-US" sz="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75" y="2117006"/>
            <a:ext cx="157163" cy="15716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529263" y="2104504"/>
            <a:ext cx="176425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Eficiencia de Captación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5286375" y="2358107"/>
            <a:ext cx="328612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dispersión observada sugiere que factores cualitativos, como la reputación de la empresa y la claridad de la descripción, influyen críticamente en la conversión de vista a aplicación.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3479229"/>
            <a:ext cx="157163" cy="15716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529263" y="3466728"/>
            <a:ext cx="154584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Hallazgo Estratégico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5286375" y="3720331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visibilidad en la plataforma es un motor fundamental para el embudo de reclutamiento, consolidando el interés de los profesionales en las ofertas publicadas.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Correlaciones y Factores de Valor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28713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0100" y="1117997"/>
            <a:ext cx="155664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Experiencia vs. Salario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71500" y="1339453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experiencia profesional se consolida como el predictor más 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fuerte con una correlación positiva de </a:t>
            </a: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0.43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 nivel de seniority 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dicta la base de la pirámide salarial.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50269"/>
            <a:ext cx="89297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6522" y="2139553"/>
            <a:ext cx="175462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Independencia del Tráfico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571500" y="2361009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una correlación casi nula entre el salario ofertado y el volumen de visualizaciones. Los roles de alta remuneración no dependen del tráfico masivo para su conversión.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71825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0100" y="3161109"/>
            <a:ext cx="150082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 Estadística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71500" y="3382566"/>
            <a:ext cx="32146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test ANOVA ratifica con un </a:t>
            </a:r>
            <a:r>
              <a:rPr lang="en-US" sz="80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p-valor &lt; 0.0001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la 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es el factor determinante, mientras que la </a:t>
            </a: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modalidad remota actúa como un multiplicador de valor.</a:t>
            </a:r>
            <a:endParaRPr lang="en-US" sz="850" dirty="0"/>
          </a:p>
        </p:txBody>
      </p:sp>
      <p:sp>
        <p:nvSpPr>
          <p:cNvPr id="13" name="Text 7"/>
          <p:cNvSpPr/>
          <p:nvPr/>
        </p:nvSpPr>
        <p:spPr>
          <a:xfrm>
            <a:off x="571500" y="4075509"/>
            <a:ext cx="3214688" cy="24110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Matriz de correlación corporativa - LinkedIn Dataset</a:t>
            </a:r>
            <a:endParaRPr lang="en-US" sz="600" dirty="0"/>
          </a:p>
        </p:txBody>
      </p:sp>
      <p:sp>
        <p:nvSpPr>
          <p:cNvPr id="14" name="Shape 8"/>
          <p:cNvSpPr/>
          <p:nvPr/>
        </p:nvSpPr>
        <p:spPr>
          <a:xfrm>
            <a:off x="4071938" y="1010841"/>
            <a:ext cx="4504302" cy="358616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212" y="1010841"/>
            <a:ext cx="4490014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Detección y Mitigación de Sesgos (MNAR)</a:t>
            </a:r>
            <a:endParaRPr lang="en-US" sz="1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6217"/>
            <a:ext cx="196453" cy="1571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3678" y="1153716"/>
            <a:ext cx="191265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Sesgo de Datos Faltantes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1421606"/>
            <a:ext cx="34290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patrones </a:t>
            </a:r>
            <a:r>
              <a:rPr lang="en-US" sz="850" b="1" dirty="0">
                <a:solidFill>
                  <a:srgbClr val="33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MNAR (Missing Not At Random)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la 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ausencia de datos salariales no es aleatoria, sino que está </a:t>
            </a: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vinculada al nivel de experiencia.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37792"/>
            <a:ext cx="157163" cy="1571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388" y="2325291"/>
            <a:ext cx="196508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en Perfiles Junior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71500" y="2593181"/>
            <a:ext cx="34290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profesionales en etapas tempranas ocultan su salario con el doble de frecuencia (47.3%) que los perfiles senior (23.8%).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571500" y="3314700"/>
            <a:ext cx="3429000" cy="567928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1" name="Shape 6"/>
          <p:cNvSpPr/>
          <p:nvPr/>
        </p:nvSpPr>
        <p:spPr>
          <a:xfrm>
            <a:off x="571500" y="3314700"/>
            <a:ext cx="3429000" cy="2857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462933"/>
            <a:ext cx="114300" cy="1143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8675" y="3459361"/>
            <a:ext cx="268660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Riesgo Estratégico: Los modelos entrenados sin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714375" y="3591520"/>
            <a:ext cx="301756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corregir este sesgo subestimarán sistemáticamente los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714375" y="3723680"/>
            <a:ext cx="10736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salarios de entrada.</a:t>
            </a:r>
            <a:endParaRPr lang="en-US" sz="8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23742"/>
            <a:ext cx="157163" cy="1571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4388" y="4211241"/>
            <a:ext cx="13449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Sesgo Geográfico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571500" y="4479131"/>
            <a:ext cx="34290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Sobrerrepresentación de mercados anglosajones en el dataset original de Stack Overflow.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0" y="1362670"/>
            <a:ext cx="4286250" cy="32146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286250" y="4675584"/>
            <a:ext cx="428625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Figura: Evidencia de Sesgo MNAR y Dispersión Salarial (Stack Overflow Analysis)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Hallazgos Clave de Negocio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153716"/>
            <a:ext cx="3857625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53716"/>
            <a:ext cx="3857625" cy="2857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785813" y="1368028"/>
            <a:ext cx="357188" cy="35718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39" y="1475184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5875" y="1415355"/>
            <a:ext cx="78168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+45.1%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85813" y="1868091"/>
            <a:ext cx="3429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por Trabajo Remoto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5813" y="2089547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roles remotos ofrecen una mediana salarial significativamente superior ($112.5K) frente al modelo presencial ($77.5K).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714875" y="1153716"/>
            <a:ext cx="3857625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714875" y="1153716"/>
            <a:ext cx="3857625" cy="2857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Shape 9"/>
          <p:cNvSpPr/>
          <p:nvPr/>
        </p:nvSpPr>
        <p:spPr>
          <a:xfrm>
            <a:off x="4929188" y="1368028"/>
            <a:ext cx="357188" cy="35718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273" y="1475184"/>
            <a:ext cx="125016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29250" y="1415355"/>
            <a:ext cx="591034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+13%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929188" y="1868091"/>
            <a:ext cx="3429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de Python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929188" y="2089547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mención explícita de Python en los requisitos incrementa la probabilidad de acceder a rangos salariales de nivel alto.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571500" y="3011091"/>
            <a:ext cx="3857625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3011091"/>
            <a:ext cx="3857625" cy="2857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5"/>
          <p:cNvSpPr/>
          <p:nvPr/>
        </p:nvSpPr>
        <p:spPr>
          <a:xfrm>
            <a:off x="785813" y="3225403"/>
            <a:ext cx="357188" cy="35718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09" y="3332559"/>
            <a:ext cx="178594" cy="1428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5875" y="3272730"/>
            <a:ext cx="457535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80%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85813" y="3725466"/>
            <a:ext cx="3429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Concentración de Roles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785813" y="394692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Analyst, Data Engineer y Data Scientist dominan la gran mayoría de las vacantes analizadas en el mercado.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4714875" y="3011091"/>
            <a:ext cx="3857625" cy="1571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714875" y="3011091"/>
            <a:ext cx="3857625" cy="28575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1"/>
          <p:cNvSpPr/>
          <p:nvPr/>
        </p:nvSpPr>
        <p:spPr>
          <a:xfrm>
            <a:off x="4929188" y="3225403"/>
            <a:ext cx="357188" cy="357188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344" y="3332559"/>
            <a:ext cx="142875" cy="1428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29250" y="3272730"/>
            <a:ext cx="1099356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 &lt; 0.0001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929188" y="3725466"/>
            <a:ext cx="34290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Validación Estadística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929188" y="3946922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test ANOVA confirma con alta significancia que la experiencia es el predictor más determinante de la compensación total.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9646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Recomendaciones Estratégicas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439466"/>
            <a:ext cx="500063" cy="500063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20" y="1589484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2110978"/>
            <a:ext cx="243657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Calibración de Fuentes de Datos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71500" y="2611041"/>
            <a:ext cx="2476481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Evitar decisiones basadas únicamente en encuestas de percepción. Los datos de mercado real (LinkedIn) muestran salarios un 59% superiores.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71500" y="3531133"/>
            <a:ext cx="200923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datos de ofertas reales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71500" y="3725800"/>
            <a:ext cx="200923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Actualizar benchmarks trimestralmente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333731" y="1439466"/>
            <a:ext cx="500063" cy="500063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747" y="1589484"/>
            <a:ext cx="250031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33731" y="2110978"/>
            <a:ext cx="247650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Mitigación de Sesgos en Selección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33731" y="2611041"/>
            <a:ext cx="2476509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Ajustar los algoritmos de recomendación para compensar la falta de datos salariales en perfiles junior y evitar la infravaloración del talento joven.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333731" y="3531133"/>
            <a:ext cx="178895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Corregir sesgo MNAR en modelos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3333731" y="3725800"/>
            <a:ext cx="1788951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Normalizar rangos por seniority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6095991" y="1439466"/>
            <a:ext cx="500063" cy="500063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09" y="1589484"/>
            <a:ext cx="200025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095991" y="2110978"/>
            <a:ext cx="24764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Optimización de la Oferta de Valor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095991" y="2611041"/>
            <a:ext cx="2476481" cy="777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la captación de perfiles con dominio de Python y fomentar modelos híbridos/remotos para maximizar la competitividad y atracción.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095991" y="3531133"/>
            <a:ext cx="178925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Incentivar el "Remote Premium"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6095991" y="3725800"/>
            <a:ext cx="178925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en habilidades core (Python)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29759" y="301265"/>
            <a:ext cx="3084481" cy="344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91B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Conclusiones Finales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246026"/>
            <a:ext cx="2476509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46026"/>
            <a:ext cx="2476509" cy="4286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3"/>
          <p:cNvSpPr/>
          <p:nvPr/>
        </p:nvSpPr>
        <p:spPr>
          <a:xfrm>
            <a:off x="1595428" y="1531776"/>
            <a:ext cx="428625" cy="428625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31" y="1660364"/>
            <a:ext cx="150019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0383" y="2103276"/>
            <a:ext cx="123871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Realidad Empírica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85813" y="2353308"/>
            <a:ext cx="20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análisis integral permite a DataTalent Solutions S.L. operar sobre realidades del mercado real y no sobre percepciones distorsionadas de encuestas comunitarias.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3333759" y="1246026"/>
            <a:ext cx="2476509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3333759" y="1246026"/>
            <a:ext cx="2476509" cy="4286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8"/>
          <p:cNvSpPr/>
          <p:nvPr/>
        </p:nvSpPr>
        <p:spPr>
          <a:xfrm>
            <a:off x="4357688" y="1531776"/>
            <a:ext cx="428625" cy="428625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1660364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79723" y="2103276"/>
            <a:ext cx="98458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Ética de Datos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548072" y="2353308"/>
            <a:ext cx="20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transparencia salarial y la mitigación activa de sesgos (MNAR) son pilares fundamentales para una consultoría de datos ética, precisa y eficiente.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6096019" y="1246026"/>
            <a:ext cx="2476509" cy="2000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096019" y="1246026"/>
            <a:ext cx="2476509" cy="4286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Shape 13"/>
          <p:cNvSpPr/>
          <p:nvPr/>
        </p:nvSpPr>
        <p:spPr>
          <a:xfrm>
            <a:off x="7119947" y="1531776"/>
            <a:ext cx="428625" cy="428625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34" y="1660364"/>
            <a:ext cx="171450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55408" y="2103276"/>
            <a:ext cx="13577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Ventaja Competitiva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310331" y="2353308"/>
            <a:ext cx="20478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la relación entre experiencia, habilidades técnicas (Python) y modalidades de trabajo es la clave para liderar el reclutamiento en el sector tech.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-3594653" y="3974356"/>
            <a:ext cx="2375018" cy="1238743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019" y="3454146"/>
            <a:ext cx="2089268" cy="11405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2026-06-01T12:41:53Z</dcterms:created>
  <dcterms:modified xsi:type="dcterms:W3CDTF">2026-06-01T12:41:53Z</dcterms:modified>
</cp:coreProperties>
</file>