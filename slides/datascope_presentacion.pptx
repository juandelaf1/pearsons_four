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09688"/>
                </a:solidFill>
              </a:defRPr>
            </a:pPr>
            <a:r>
              <a:t>Pearsons Four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</a:defRPr>
            </a:pPr>
            <a:r>
              <a:t>EDA Data Science Job Salaries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B4B4"/>
                </a:solidFill>
              </a:defRPr>
            </a:pPr>
            <a:r>
              <a:t>DataTalent Solutions S.L.  •  Module II  • 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B74D"/>
                </a:solidFill>
              </a:defRPr>
            </a:pPr>
            <a:r>
              <a:t>Juan  •  Isabela  •  Anas  •  Vanessa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E283C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1E283C"/>
                </a:solidFill>
              </a:defRPr>
            </a:pPr>
            <a:r>
              <a:t>•  El Problema de Negocio: DataTalent Solutions S.L.</a:t>
            </a:r>
          </a:p>
          <a:p>
            <a:pPr>
              <a:spcAft>
                <a:spcPts val="1200"/>
              </a:spcAft>
              <a:defRPr sz="2400">
                <a:solidFill>
                  <a:srgbClr val="1E283C"/>
                </a:solidFill>
              </a:defRPr>
            </a:pPr>
            <a:r>
              <a:t>•  Datasets: LinkedIn Job Postings + Stack Overflow 2025</a:t>
            </a:r>
          </a:p>
          <a:p>
            <a:pPr>
              <a:spcAft>
                <a:spcPts val="1200"/>
              </a:spcAft>
              <a:defRPr sz="2400">
                <a:solidFill>
                  <a:srgbClr val="1E283C"/>
                </a:solidFill>
              </a:defRPr>
            </a:pPr>
            <a:r>
              <a:t>•  Data Wrangling: Limpieza, Outliers y Calidad del Dato</a:t>
            </a:r>
          </a:p>
          <a:p>
            <a:pPr>
              <a:spcAft>
                <a:spcPts val="1200"/>
              </a:spcAft>
              <a:defRPr sz="2400">
                <a:solidFill>
                  <a:srgbClr val="1E283C"/>
                </a:solidFill>
              </a:defRPr>
            </a:pPr>
            <a:r>
              <a:t>•  Análisis Estadístico: Correlaciones, ANOVA y Probabilidad Condicional</a:t>
            </a:r>
          </a:p>
          <a:p>
            <a:pPr>
              <a:spcAft>
                <a:spcPts val="1200"/>
              </a:spcAft>
              <a:defRPr sz="2400">
                <a:solidFill>
                  <a:srgbClr val="1E283C"/>
                </a:solidFill>
              </a:defRPr>
            </a:pPr>
            <a:r>
              <a:t>•  Visualizaciones: 6+ Gráficos Clave</a:t>
            </a:r>
          </a:p>
          <a:p>
            <a:pPr>
              <a:spcAft>
                <a:spcPts val="1200"/>
              </a:spcAft>
              <a:defRPr sz="2400">
                <a:solidFill>
                  <a:srgbClr val="1E283C"/>
                </a:solidFill>
              </a:defRPr>
            </a:pPr>
            <a:r>
              <a:t>•  Sesgos y Ética: MNAR, Subrepresentación, Impacto en IA</a:t>
            </a:r>
          </a:p>
          <a:p>
            <a:pPr>
              <a:spcAft>
                <a:spcPts val="1200"/>
              </a:spcAft>
              <a:defRPr sz="2400">
                <a:solidFill>
                  <a:srgbClr val="1E283C"/>
                </a:solidFill>
              </a:defRPr>
            </a:pPr>
            <a:r>
              <a:t>•  Recomendaciones Estratégicas para DataTalent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9688"/>
                </a:solidFill>
              </a:defRPr>
            </a:pPr>
            <a:r>
              <a:t>El Problema de Negocio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 DataTalent Solutions S.L. necesita evidencia empírica sobre habilidades tech demandadas en España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 Quiere lanzar un programa de reskilling basado en datos, no en intuición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 Preguntas clave: ¿Qué skills contratan más? ¿Cómo varían salarios por experiencia, ciudad y sector?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 ¿Los datos disponibles son representativos para el mercado español?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83C"/>
                </a:solidFill>
              </a:defRPr>
            </a:pPr>
            <a:r>
              <a:t>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1E283C"/>
                </a:solidFill>
              </a:defRPr>
            </a:pPr>
            <a:r>
              <a:t>•  LinkedIn Job Postings (Kaggle): 123,849 ofertas, 31 columnas</a:t>
            </a:r>
          </a:p>
          <a:p>
            <a:pPr>
              <a:spcAft>
                <a:spcPts val="1200"/>
              </a:spcAft>
              <a:defRPr sz="2400">
                <a:solidFill>
                  <a:srgbClr val="1E283C"/>
                </a:solidFill>
              </a:defRPr>
            </a:pPr>
            <a:r>
              <a:t>•  Stack Overflow Survey 2025: 49,191 respuestas, 172 columnas</a:t>
            </a:r>
          </a:p>
          <a:p>
            <a:pPr>
              <a:spcAft>
                <a:spcPts val="1200"/>
              </a:spcAft>
              <a:defRPr sz="2400">
                <a:solidFill>
                  <a:srgbClr val="1E283C"/>
                </a:solidFill>
              </a:defRPr>
            </a:pPr>
            <a:r>
              <a:t>•  Filtro: 1,831 postings de datos (Data Analyst, Engineer, Scientist)</a:t>
            </a:r>
          </a:p>
          <a:p>
            <a:pPr>
              <a:spcAft>
                <a:spcPts val="1200"/>
              </a:spcAft>
              <a:defRPr sz="2400">
                <a:solidFill>
                  <a:srgbClr val="1E283C"/>
                </a:solidFill>
              </a:defRPr>
            </a:pPr>
            <a:r>
              <a:t>•  Procesado final: 607 registros limpios con salario válido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9688"/>
                </a:solidFill>
              </a:defRPr>
            </a:pPr>
            <a:r>
              <a:t>Data Wrangling (Juan)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 Carga e inspección: .shape(), .info(), .describe()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 Nulos: 70.87% en normalized_salary, 98% en skills_desc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 Outliers IQR: 14 detectados (2.3%) — removidos salarios &lt;$1K y &gt;$2M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 Outliers Z-score: 1 (0.2%)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 Normalización: textos .lower().strip(), experiencia numérica 0-5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 Documentación: cada decisión justificada en Markdown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83C"/>
                </a:solidFill>
              </a:defRPr>
            </a:pPr>
            <a:r>
              <a:t>Análisis Estadístico (Isabela)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1E283C"/>
                </a:solidFill>
              </a:defRPr>
            </a:pPr>
            <a:r>
              <a:t>•  Media salarial: $139,844 | Mediana: $135,588</a:t>
            </a:r>
          </a:p>
          <a:p>
            <a:pPr>
              <a:spcAft>
                <a:spcPts val="1200"/>
              </a:spcAft>
              <a:defRPr sz="2300">
                <a:solidFill>
                  <a:srgbClr val="1E283C"/>
                </a:solidFill>
              </a:defRPr>
            </a:pPr>
            <a:r>
              <a:t>•  Premium remoto: +45.1% (Remote $112,500 vs On-site $77,500)</a:t>
            </a:r>
          </a:p>
          <a:p>
            <a:pPr>
              <a:spcAft>
                <a:spcPts val="1200"/>
              </a:spcAft>
              <a:defRPr sz="2300">
                <a:solidFill>
                  <a:srgbClr val="1E283C"/>
                </a:solidFill>
              </a:defRPr>
            </a:pPr>
            <a:r>
              <a:t>•  Correlación Pearson: Experiencia-Salario r = 0.43</a:t>
            </a:r>
          </a:p>
          <a:p>
            <a:pPr>
              <a:spcAft>
                <a:spcPts val="1200"/>
              </a:spcAft>
              <a:defRPr sz="2300">
                <a:solidFill>
                  <a:srgbClr val="1E283C"/>
                </a:solidFill>
              </a:defRPr>
            </a:pPr>
            <a:r>
              <a:t>•  ANOVA: p &lt; 0.0001 — la experiencia SÍ afecta el salario</a:t>
            </a:r>
          </a:p>
          <a:p>
            <a:pPr>
              <a:spcAft>
                <a:spcPts val="1200"/>
              </a:spcAft>
              <a:defRPr sz="2300">
                <a:solidFill>
                  <a:srgbClr val="1E283C"/>
                </a:solidFill>
              </a:defRPr>
            </a:pPr>
            <a:r>
              <a:t>•  P(High Salary | Python) = 8.00% vs 7.09% sin Python</a:t>
            </a:r>
          </a:p>
          <a:p>
            <a:pPr>
              <a:spcAft>
                <a:spcPts val="1200"/>
              </a:spcAft>
              <a:defRPr sz="2300">
                <a:solidFill>
                  <a:srgbClr val="1E283C"/>
                </a:solidFill>
              </a:defRPr>
            </a:pPr>
            <a:r>
              <a:t>•  Probabilidad condicional: P(Alto Salario | Senior) = 53.42%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9688"/>
                </a:solidFill>
              </a:defRPr>
            </a:pPr>
            <a:r>
              <a:t>Visualizaciones Clave (Anas)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 Histograma + KDE: Distribución salarial asimétrica positiva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 Boxplot: Salario por nivel de experiencia — clara progresión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 Top 10 Roles: Data Analyst lidera (137), Data Engineer (90)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 Top 10 Industrias: IT Services, Finance, Healthcare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 Scatter Views vs Applies: Correlación moderada (r = 0.62)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 Todas con título, etiquetas, leyendas e interpretación en Markdown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83C"/>
                </a:solidFill>
              </a:defRPr>
            </a:pPr>
            <a:r>
              <a:t>Sesgos y Ética (Vanessa)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1E283C"/>
                </a:solidFill>
              </a:defRPr>
            </a:pPr>
            <a:r>
              <a:t>•  Sesgo Geográfico: 0 postings de España en LinkedIn — datos US-centric</a:t>
            </a:r>
          </a:p>
          <a:p>
            <a:pPr>
              <a:spcAft>
                <a:spcPts val="1200"/>
              </a:spcAft>
              <a:defRPr sz="2300">
                <a:solidFill>
                  <a:srgbClr val="1E283C"/>
                </a:solidFill>
              </a:defRPr>
            </a:pPr>
            <a:r>
              <a:t>•  MNAR: 47.33% de juniors ocultan salario vs 23.86% seniors</a:t>
            </a:r>
          </a:p>
          <a:p>
            <a:pPr>
              <a:spcAft>
                <a:spcPts val="1200"/>
              </a:spcAft>
              <a:defRPr sz="2300">
                <a:solidFill>
                  <a:srgbClr val="1E283C"/>
                </a:solidFill>
              </a:defRPr>
            </a:pPr>
            <a:r>
              <a:t>•  Sesgo de Selección: 83.81% Senior vs 16.19% Junior en la muestra</a:t>
            </a:r>
          </a:p>
          <a:p>
            <a:pPr>
              <a:spcAft>
                <a:spcPts val="1200"/>
              </a:spcAft>
              <a:defRPr sz="2300">
                <a:solidFill>
                  <a:srgbClr val="1E283C"/>
                </a:solidFill>
              </a:defRPr>
            </a:pPr>
            <a:r>
              <a:t>•  Skills sparsity: 98.03% sin descripción de habilidades</a:t>
            </a:r>
          </a:p>
          <a:p>
            <a:pPr>
              <a:spcAft>
                <a:spcPts val="1200"/>
              </a:spcAft>
              <a:defRPr sz="2300">
                <a:solidFill>
                  <a:srgbClr val="1E283C"/>
                </a:solidFill>
              </a:defRPr>
            </a:pPr>
            <a:r>
              <a:t>•  Impacto en IA: modelo subestimaría salarios junior y no generalizaría a España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09688"/>
                </a:solidFill>
              </a:defRPr>
            </a:pPr>
            <a:r>
              <a:t>Comparativa Cruzada: SO vs LinkedIn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 Stack Overflow (Comunidad): Mediana $85,000 — auto-reportado, inflado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 LinkedIn (Mercado): Mediana $135,588 — ofertas reales corporativas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 Diferencia: +59% en LinkedIn refleja la realidad del mercado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 Conclusión: DataTalent debe basar su programa en datos de LinkedIn, no en encuestas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 La especialización técnica avanzada es la vía para saltar a la curva premium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83C"/>
                </a:solidFill>
              </a:defRPr>
            </a:pPr>
            <a:r>
              <a:t>Recomendaciones para DataTalent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83C"/>
                </a:solidFill>
              </a:defRPr>
            </a:pPr>
            <a:r>
              <a:t>•  Usar datos locales españoles (InfoJobs, LinkedIn Spain) para decisiones de reskilling</a:t>
            </a:r>
          </a:p>
          <a:p>
            <a:pPr>
              <a:spcAft>
                <a:spcPts val="1200"/>
              </a:spcAft>
              <a:defRPr sz="2200">
                <a:solidFill>
                  <a:srgbClr val="1E283C"/>
                </a:solidFill>
              </a:defRPr>
            </a:pPr>
            <a:r>
              <a:t>•  Diseñar currículo basado en top 5 skills del ranking cruzado de demanda</a:t>
            </a:r>
          </a:p>
          <a:p>
            <a:pPr>
              <a:spcAft>
                <a:spcPts val="1200"/>
              </a:spcAft>
              <a:defRPr sz="2200">
                <a:solidFill>
                  <a:srgbClr val="1E283C"/>
                </a:solidFill>
              </a:defRPr>
            </a:pPr>
            <a:r>
              <a:t>•  Aplicar weighted sampling o IPW para corregir MNAR en modelos predictivos</a:t>
            </a:r>
          </a:p>
          <a:p>
            <a:pPr>
              <a:spcAft>
                <a:spcPts val="1200"/>
              </a:spcAft>
              <a:defRPr sz="2200">
                <a:solidFill>
                  <a:srgbClr val="1E283C"/>
                </a:solidFill>
              </a:defRPr>
            </a:pPr>
            <a:r>
              <a:t>•  Auditar sesgos en cualquier recomendador automatizado de perfiles</a:t>
            </a:r>
          </a:p>
          <a:p>
            <a:pPr>
              <a:spcAft>
                <a:spcPts val="1200"/>
              </a:spcAft>
              <a:defRPr sz="2200">
                <a:solidFill>
                  <a:srgbClr val="1E283C"/>
                </a:solidFill>
              </a:defRPr>
            </a:pPr>
            <a:r>
              <a:t>•  Fijar expectativas salariales realistas basadas en LinkedIn, no en encuestas infladas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09688"/>
                </a:solidFill>
              </a:defRPr>
            </a:pPr>
            <a:r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Pearsons Four  •  Module II  •  Data Analysis &amp;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B74D"/>
                </a:solidFill>
              </a:defRPr>
            </a:pPr>
            <a: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